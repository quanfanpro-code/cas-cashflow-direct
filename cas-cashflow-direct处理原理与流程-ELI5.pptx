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  <a:p>
            <a:r>
              <a:t>- C:\Users\27651\.codex\visualizations\2026\08\25\01a03695-8233-7ff0-b90d-d9b78037954b\cashflow_ppt_build\assets\cashflow-sorting-hero.png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C:/Users/27651/Desktop/cas-cashflow-direct处理原理与流程-ELI5.html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685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5DAD4"/>
                </a:solidFill>
              </a:defRPr>
            </a:pPr>
            <a:r>
              <a:rPr sz="1200" b="1">
                <a:solidFill>
                  <a:srgbClr val="75DAD4"/>
                </a:solidFill>
              </a:rPr>
              <a:t>CAS-CASHFLOW-DIRECT</a:t>
            </a:r>
            <a:endParaRPr sz="1200" b="1">
              <a:solidFill>
                <a:srgbClr val="75DAD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38250"/>
            <a:ext cx="49530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现金流量表</a:t>
            </a:r>
            <a:endParaRPr sz="4650" b="1">
              <a:solidFill>
                <a:srgbClr val="FFFFFF"/>
              </a:solidFill>
            </a:endParaRPr>
          </a:p>
          <a:p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自动分类工具</a:t>
            </a:r>
            <a:endParaRPr sz="465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048000"/>
            <a:ext cx="4619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D9ECEF"/>
                </a:solidFill>
              </a:defRPr>
            </a:pPr>
            <a:r>
              <a:rPr sz="1875" b="0">
                <a:solidFill>
                  <a:srgbClr val="D9ECEF"/>
                </a:solidFill>
              </a:rPr>
              <a:t>每笔收付款都走同一套固定步骤，</a:t>
            </a:r>
            <a:endParaRPr sz="1875" b="0">
              <a:solidFill>
                <a:srgbClr val="D9ECEF"/>
              </a:solidFill>
            </a:endParaRPr>
          </a:p>
          <a:p>
            <a:pPr algn="l">
              <a:defRPr sz="1875" b="0">
                <a:solidFill>
                  <a:srgbClr val="D9ECEF"/>
                </a:solidFill>
              </a:defRPr>
            </a:pPr>
            <a:r>
              <a:rPr sz="1875" b="0">
                <a:solidFill>
                  <a:srgbClr val="D9ECEF"/>
                </a:solidFill>
              </a:rPr>
              <a:t>认现金、看摘要和科目、给证据打分、定项目。</a:t>
            </a:r>
            <a:endParaRPr sz="1875" b="0">
              <a:solidFill>
                <a:srgbClr val="D9ECE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4514850"/>
            <a:ext cx="1733550" cy="323850"/>
          </a:xfrm>
          <a:prstGeom prst="roundRect">
            <a:avLst>
              <a:gd name="adj" fmla="val 50000"/>
            </a:avLst>
          </a:prstGeom>
          <a:solidFill>
            <a:srgbClr val="123F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4562475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EDE9"/>
                </a:solidFill>
              </a:defRPr>
            </a:pPr>
            <a:r>
              <a:rPr sz="1125" b="1">
                <a:solidFill>
                  <a:srgbClr val="B7EDE9"/>
                </a:solidFill>
              </a:rPr>
              <a:t>3 条重要性界线</a:t>
            </a:r>
            <a:endParaRPr sz="1125" b="1">
              <a:solidFill>
                <a:srgbClr val="B7EDE9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590800" y="4514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23F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67000" y="456247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EDE9"/>
                </a:solidFill>
              </a:defRPr>
            </a:pPr>
            <a:r>
              <a:rPr sz="1125" b="1">
                <a:solidFill>
                  <a:srgbClr val="B7EDE9"/>
                </a:solidFill>
              </a:rPr>
              <a:t>2 条独立证据</a:t>
            </a:r>
            <a:endParaRPr sz="1125" b="1">
              <a:solidFill>
                <a:srgbClr val="B7EDE9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4514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23F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19600" y="4562475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EDE9"/>
                </a:solidFill>
              </a:defRPr>
            </a:pPr>
            <a:r>
              <a:rPr sz="1125" b="1">
                <a:solidFill>
                  <a:srgbClr val="B7EDE9"/>
                </a:solidFill>
              </a:rPr>
              <a:t>14 张结果表</a:t>
            </a:r>
            <a:endParaRPr sz="1125" b="1">
              <a:solidFill>
                <a:srgbClr val="B7EDE9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l="24746" r="24746"/>
          <a:stretch>
            <a:fillRect/>
          </a:stretch>
        </p:blipFill>
        <p:spPr>
          <a:xfrm>
            <a:off x="6191250" y="457200"/>
            <a:ext cx="5334000" cy="5943600"/>
          </a:xfrm>
          <a:prstGeom prst="roundRect">
            <a:avLst>
              <a:gd name="adj" fmla="val 4286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系统只纠正有证据的异常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02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7640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82B3C"/>
                </a:solidFill>
              </a:defRPr>
            </a:pPr>
            <a:r>
              <a:rPr sz="2550" b="1">
                <a:solidFill>
                  <a:srgbClr val="082B3C"/>
                </a:solidFill>
              </a:rPr>
              <a:t>客户原来填的项目能识别时，默认沿用它。</a:t>
            </a:r>
            <a:endParaRPr sz="2550" b="1">
              <a:solidFill>
                <a:srgbClr val="082B3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324100"/>
            <a:ext cx="666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87089"/>
                </a:solidFill>
              </a:defRPr>
            </a:pPr>
            <a:r>
              <a:rPr sz="1650" b="0">
                <a:solidFill>
                  <a:srgbClr val="587089"/>
                </a:solidFill>
              </a:rPr>
              <a:t>想改原项目，就要拿出足够证据，拿不出就维持原样。</a:t>
            </a:r>
            <a:endParaRPr sz="1650" b="0">
              <a:solidFill>
                <a:srgbClr val="58708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3238500"/>
            <a:ext cx="4476750" cy="952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238500"/>
            <a:ext cx="2714625" cy="95250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4861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87F79"/>
                </a:solidFill>
              </a:defRPr>
            </a:pPr>
            <a:r>
              <a:rPr sz="2250" b="1">
                <a:solidFill>
                  <a:srgbClr val="087F79"/>
                </a:solidFill>
              </a:rPr>
              <a:t>保持</a:t>
            </a:r>
            <a:endParaRPr sz="2250" b="1">
              <a:solidFill>
                <a:srgbClr val="087F7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3562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证据不足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5429250" y="3105150"/>
            <a:ext cx="1333500" cy="381000"/>
          </a:xfrm>
          <a:prstGeom prst="rightArrow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19700" y="36385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足够的正面证据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524750" y="1619250"/>
            <a:ext cx="3429000" cy="3067050"/>
          </a:xfrm>
          <a:prstGeom prst="roundRect">
            <a:avLst>
              <a:gd name="adj" fmla="val 4969"/>
            </a:avLst>
          </a:prstGeom>
          <a:solidFill>
            <a:srgbClr val="EFFAF9"/>
          </a:solidFill>
          <a:ln w="19050">
            <a:solidFill>
              <a:srgbClr val="00A7A0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43850" y="2171700"/>
            <a:ext cx="2590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082B3C"/>
                </a:solidFill>
              </a:defRPr>
            </a:pPr>
            <a:r>
              <a:rPr sz="2325" b="1">
                <a:solidFill>
                  <a:srgbClr val="082B3C"/>
                </a:solidFill>
              </a:rPr>
              <a:t>只有证据过线，</a:t>
            </a:r>
            <a:endParaRPr sz="2325" b="1">
              <a:solidFill>
                <a:srgbClr val="082B3C"/>
              </a:solidFill>
            </a:endParaRPr>
          </a:p>
          <a:p>
            <a:pPr algn="ctr">
              <a:defRPr sz="2325" b="1">
                <a:solidFill>
                  <a:srgbClr val="082B3C"/>
                </a:solidFill>
              </a:defRPr>
            </a:pPr>
            <a:r>
              <a:rPr sz="2325" b="1">
                <a:solidFill>
                  <a:srgbClr val="082B3C"/>
                </a:solidFill>
              </a:rPr>
              <a:t>系统才会改原项目</a:t>
            </a:r>
            <a:endParaRPr sz="2325" b="1">
              <a:solidFill>
                <a:srgbClr val="082B3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3448050"/>
            <a:ext cx="2571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087F79"/>
                </a:solidFill>
              </a:defRPr>
            </a:pPr>
            <a:r>
              <a:rPr sz="1500" b="0">
                <a:solidFill>
                  <a:srgbClr val="087F79"/>
                </a:solidFill>
              </a:rPr>
              <a:t>证据未知 ≠ 证据冲突</a:t>
            </a:r>
            <a:endParaRPr sz="1500" b="0">
              <a:solidFill>
                <a:srgbClr val="087F79"/>
              </a:solidFill>
            </a:endParaRPr>
          </a:p>
          <a:p>
            <a:pPr algn="ctr">
              <a:defRPr sz="1500" b="0">
                <a:solidFill>
                  <a:srgbClr val="087F79"/>
                </a:solidFill>
              </a:defRPr>
            </a:pPr>
            <a:r>
              <a:rPr sz="1500" b="0">
                <a:solidFill>
                  <a:srgbClr val="087F79"/>
                </a:solidFill>
              </a:rPr>
              <a:t>摘要里没提到，不等于推翻科目路径的强证据</a:t>
            </a:r>
            <a:endParaRPr sz="1500" b="0">
              <a:solidFill>
                <a:srgbClr val="087F7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5619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金额档位决定复核深度  ·  证据分决定证据怎么组合  ·  授权分决定改项目的门槛</a:t>
            </a:r>
            <a:endParaRPr sz="1650" b="1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矩形 52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八个步骤，按固定顺序走完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03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857500" y="2286000"/>
            <a:ext cx="514350" cy="3238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5524500" y="2286000"/>
            <a:ext cx="514350" cy="3238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8191500" y="2286000"/>
            <a:ext cx="514350" cy="3238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左箭头 7"/>
          <p:cNvSpPr>
            <a:spLocks noGrp="1"/>
          </p:cNvSpPr>
          <p:nvPr/>
        </p:nvSpPr>
        <p:spPr>
          <a:xfrm>
            <a:off x="2857500" y="4438650"/>
            <a:ext cx="514350" cy="323850"/>
          </a:xfrm>
          <a:prstGeom prst="leftArrow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左箭头 8"/>
          <p:cNvSpPr>
            <a:spLocks noGrp="1"/>
          </p:cNvSpPr>
          <p:nvPr/>
        </p:nvSpPr>
        <p:spPr>
          <a:xfrm>
            <a:off x="5524500" y="4438650"/>
            <a:ext cx="514350" cy="323850"/>
          </a:xfrm>
          <a:prstGeom prst="leftArrow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左箭头 9"/>
          <p:cNvSpPr>
            <a:spLocks noGrp="1"/>
          </p:cNvSpPr>
          <p:nvPr/>
        </p:nvSpPr>
        <p:spPr>
          <a:xfrm>
            <a:off x="8191500" y="4438650"/>
            <a:ext cx="514350" cy="323850"/>
          </a:xfrm>
          <a:prstGeom prst="leftArrow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10629900" y="3048000"/>
            <a:ext cx="323850" cy="685800"/>
          </a:xfrm>
          <a:prstGeom prst="downArrow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85800" y="1981200"/>
            <a:ext cx="438150" cy="4381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0478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57300" y="1885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读取文件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23050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识别字段与工作表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009900"/>
            <a:ext cx="2095500" cy="28575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3352800" y="1981200"/>
            <a:ext cx="438150" cy="4381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52800" y="20478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24300" y="1885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对齐一级科目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24300" y="23050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先把大类名称对齐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52800" y="3009900"/>
            <a:ext cx="2095500" cy="28575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019800" y="1981200"/>
            <a:ext cx="438150" cy="4381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19800" y="20478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91300" y="1885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确认现金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91300" y="23050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逐账户纳入或排除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3009900"/>
            <a:ext cx="2095500" cy="28575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686800" y="1981200"/>
            <a:ext cx="438150" cy="4381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86800" y="20478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58300" y="1885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业务组成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58300" y="23050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现金和对应科目金额对平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86800" y="3009900"/>
            <a:ext cx="2095500" cy="28575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686800" y="4133850"/>
            <a:ext cx="438150" cy="43815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86800" y="420052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58300" y="4038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两条证据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258300" y="445770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摘要 + 完整路径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86800" y="5162550"/>
            <a:ext cx="2095500" cy="28575"/>
          </a:xfrm>
          <a:prstGeom prst="rect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6019800" y="4133850"/>
            <a:ext cx="438150" cy="43815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19800" y="420052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91300" y="4038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四档评分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91300" y="445770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0 / 10 / 25 / 45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19800" y="5162550"/>
            <a:ext cx="2095500" cy="28575"/>
          </a:xfrm>
          <a:prstGeom prst="rect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3352800" y="4133850"/>
            <a:ext cx="438150" cy="43815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352800" y="420052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924300" y="4038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决定怎么处理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924300" y="445770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分数 + 金额 + 原项目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352800" y="5162550"/>
            <a:ext cx="2095500" cy="28575"/>
          </a:xfrm>
          <a:prstGeom prst="rect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685800" y="4133850"/>
            <a:ext cx="438150" cy="43815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85800" y="420052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8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57300" y="4038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结果工作簿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257300" y="445770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自动结果 + 人工入口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85800" y="5162550"/>
            <a:ext cx="2095500" cy="28575"/>
          </a:xfrm>
          <a:prstGeom prst="rect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04850" y="59055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每一步都留下依据，后面的步骤不能跳过前面的检查。</a:t>
            </a:r>
            <a:endParaRPr sz="1500" b="1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三条金额线，只决定复核多深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04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428750" y="1581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82B3C"/>
                </a:solidFill>
              </a:defRPr>
            </a:pPr>
            <a:r>
              <a:rPr sz="2100" b="1">
                <a:solidFill>
                  <a:srgbClr val="082B3C"/>
                </a:solidFill>
              </a:rPr>
              <a:t>明显微小错报临界值  ＜  实际执行重要性  ＜  整体重要性</a:t>
            </a:r>
            <a:endParaRPr sz="2100" b="1">
              <a:solidFill>
                <a:srgbClr val="082B3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476500"/>
            <a:ext cx="2476500" cy="2381250"/>
          </a:xfrm>
          <a:prstGeom prst="rect">
            <a:avLst/>
          </a:prstGeom>
          <a:solidFill>
            <a:srgbClr val="EFFA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7241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7F79"/>
                </a:solidFill>
              </a:defRPr>
            </a:pPr>
            <a:r>
              <a:rPr sz="2850" b="1">
                <a:solidFill>
                  <a:srgbClr val="087F79"/>
                </a:solidFill>
              </a:rPr>
              <a:t>M0</a:t>
            </a:r>
            <a:endParaRPr sz="2850" b="1">
              <a:solidFill>
                <a:srgbClr val="087F79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90900"/>
            <a:ext cx="209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很小，但仍全量扫描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42672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低于明显微小错报临界值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2476500"/>
            <a:ext cx="2571750" cy="2381250"/>
          </a:xfrm>
          <a:prstGeom prst="rect">
            <a:avLst/>
          </a:prstGeom>
          <a:solidFill>
            <a:srgbClr val="E8F6F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24250" y="27241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7F79"/>
                </a:solidFill>
              </a:defRPr>
            </a:pPr>
            <a:r>
              <a:rPr sz="2850" b="1">
                <a:solidFill>
                  <a:srgbClr val="087F79"/>
                </a:solidFill>
              </a:rPr>
              <a:t>M1</a:t>
            </a:r>
            <a:endParaRPr sz="2850" b="1">
              <a:solidFill>
                <a:srgbClr val="087F79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33909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不能忽略，开始复核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42672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达到最小一条线，未到执行重要性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62650" y="2476500"/>
            <a:ext cx="2724150" cy="2381250"/>
          </a:xfrm>
          <a:prstGeom prst="rect">
            <a:avLst/>
          </a:prstGeom>
          <a:solidFill>
            <a:srgbClr val="FFF3D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2724150"/>
            <a:ext cx="2343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7F79"/>
                </a:solidFill>
              </a:defRPr>
            </a:pPr>
            <a:r>
              <a:rPr sz="2850" b="1">
                <a:solidFill>
                  <a:srgbClr val="087F79"/>
                </a:solidFill>
              </a:rPr>
              <a:t>M2</a:t>
            </a:r>
            <a:endParaRPr sz="2850" b="1">
              <a:solidFill>
                <a:srgbClr val="087F7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3390900"/>
            <a:ext cx="2343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金额较大，需更深复核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53150" y="4267200"/>
            <a:ext cx="2343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达到执行重要性，未到整体重要性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43950" y="2476500"/>
            <a:ext cx="2647950" cy="2381250"/>
          </a:xfrm>
          <a:prstGeom prst="rect">
            <a:avLst/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2724150"/>
            <a:ext cx="2266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B33A3A"/>
                </a:solidFill>
              </a:defRPr>
            </a:pPr>
            <a:r>
              <a:rPr sz="2850" b="1">
                <a:solidFill>
                  <a:srgbClr val="B33A3A"/>
                </a:solidFill>
              </a:rPr>
              <a:t>M3</a:t>
            </a:r>
            <a:endParaRPr sz="2850" b="1">
              <a:solidFill>
                <a:srgbClr val="B33A3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34450" y="339090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重大事项，人工负责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34450" y="426720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达到或超过整体重要性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54292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只看单笔业务自己的金额；同类累计不会凭空造出新证据，也不会把小额业务抬成大额。</a:t>
            </a:r>
            <a:endParaRPr sz="1575" b="1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先对齐一级科目，再确定哪些账户算现金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05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15811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82B3C"/>
                </a:solidFill>
              </a:defRPr>
            </a:pPr>
            <a:r>
              <a:rPr sz="2100" b="1">
                <a:solidFill>
                  <a:srgbClr val="082B3C"/>
                </a:solidFill>
              </a:rPr>
              <a:t>一级科目标准化</a:t>
            </a:r>
            <a:endParaRPr sz="2100" b="1">
              <a:solidFill>
                <a:srgbClr val="082B3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0" y="15811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82B3C"/>
                </a:solidFill>
              </a:defRPr>
            </a:pPr>
            <a:r>
              <a:rPr sz="2100" b="1">
                <a:solidFill>
                  <a:srgbClr val="082B3C"/>
                </a:solidFill>
              </a:rPr>
              <a:t>现金范围逐账户确认</a:t>
            </a:r>
            <a:endParaRPr sz="2100" b="1">
              <a:solidFill>
                <a:srgbClr val="082B3C"/>
              </a:solidFill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3219450" y="2686050"/>
            <a:ext cx="1143000" cy="4000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527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客户一级科目</a:t>
            </a:r>
            <a:endParaRPr sz="1650" b="1">
              <a:solidFill>
                <a:srgbClr val="17324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39285" y="263652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7F79"/>
                </a:solidFill>
              </a:defRPr>
            </a:pPr>
            <a:r>
              <a:rPr sz="1500" b="1">
                <a:solidFill>
                  <a:srgbClr val="087F79"/>
                </a:solidFill>
              </a:rPr>
              <a:t>标准名称 / 固定别名</a:t>
            </a:r>
            <a:endParaRPr sz="1500" b="1">
              <a:solidFill>
                <a:srgbClr val="087F79"/>
              </a:solidFill>
            </a:endParaRPr>
          </a:p>
          <a:p>
            <a:pPr algn="ctr">
              <a:defRPr sz="1500" b="1">
                <a:solidFill>
                  <a:srgbClr val="087F79"/>
                </a:solidFill>
              </a:defRPr>
            </a:pPr>
            <a:r>
              <a:rPr sz="1500" b="1">
                <a:solidFill>
                  <a:srgbClr val="087F79"/>
                </a:solidFill>
              </a:rPr>
              <a:t>唯一对应则自动确认</a:t>
            </a:r>
            <a:endParaRPr sz="1500" b="1">
              <a:solidFill>
                <a:srgbClr val="087F7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695700"/>
            <a:ext cx="5257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只映射一级；完整路径、明细和账户编码都保留。</a:t>
            </a:r>
            <a:endParaRPr sz="1500" b="0">
              <a:solidFill>
                <a:srgbClr val="587089"/>
              </a:solidFill>
            </a:endParaRPr>
          </a:p>
          <a:p>
            <a:pPr algn="l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有一级科目未确认，流程就在这里停住。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067550" y="2266950"/>
            <a:ext cx="1619250" cy="1619250"/>
          </a:xfrm>
          <a:prstGeom prst="ellipse">
            <a:avLst/>
          </a:prstGeom>
          <a:solidFill>
            <a:srgbClr val="EFFAF9"/>
          </a:solidFill>
          <a:ln w="28575">
            <a:solidFill>
              <a:srgbClr val="00A7A0"/>
            </a:solidFill>
            <a:prstDash val="solid"/>
          </a:ln>
        </p:spPr>
        <p:txBody>
          <a:bodyPr/>
          <a:p/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8096250" y="2647950"/>
            <a:ext cx="1619250" cy="1619250"/>
          </a:xfrm>
          <a:prstGeom prst="ellipse">
            <a:avLst/>
          </a:prstGeom>
          <a:solidFill>
            <a:srgbClr val="FFF3D6"/>
          </a:solidFill>
          <a:ln w="28575">
            <a:solidFill>
              <a:srgbClr val="F4A61D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34250" y="27813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87F79"/>
                </a:solidFill>
              </a:defRPr>
            </a:pPr>
            <a:r>
              <a:rPr sz="2025" b="1">
                <a:solidFill>
                  <a:srgbClr val="087F79"/>
                </a:solidFill>
              </a:rPr>
              <a:t>纳入</a:t>
            </a:r>
            <a:endParaRPr sz="2025" b="1">
              <a:solidFill>
                <a:srgbClr val="087F7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31623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4A61D"/>
                </a:solidFill>
              </a:defRPr>
            </a:pPr>
            <a:r>
              <a:rPr sz="2025" b="1">
                <a:solidFill>
                  <a:srgbClr val="F4A61D"/>
                </a:solidFill>
              </a:rPr>
              <a:t>排除</a:t>
            </a:r>
            <a:endParaRPr sz="2025" b="1">
              <a:solidFill>
                <a:srgbClr val="F4A61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724650" y="4495800"/>
            <a:ext cx="4476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普通户 / 募集户 / 保证金 / 冻结 / 受限……</a:t>
            </a:r>
            <a:endParaRPr sz="1500" b="0">
              <a:solidFill>
                <a:srgbClr val="587089"/>
              </a:solidFill>
            </a:endParaRPr>
          </a:p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同属一个一级科目，也必须逐个账户决定。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56045" y="1652905"/>
            <a:ext cx="19050" cy="36957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5762625"/>
            <a:ext cx="1045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两边都算现金就是内部划转；一边算、一边不算，就按现金这边的实际增减记现金流。</a:t>
            </a:r>
            <a:endParaRPr sz="1425" b="1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两条证据各自独立看，再交给固定程序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06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543050"/>
            <a:ext cx="4953000" cy="4000500"/>
          </a:xfrm>
          <a:prstGeom prst="rect">
            <a:avLst/>
          </a:prstGeom>
          <a:solidFill>
            <a:srgbClr val="EFFA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553200" y="1543050"/>
            <a:ext cx="4953000" cy="4000500"/>
          </a:xfrm>
          <a:prstGeom prst="rect">
            <a:avLst/>
          </a:prstGeom>
          <a:solidFill>
            <a:srgbClr val="F7FAF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809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87F79"/>
                </a:solidFill>
              </a:defRPr>
            </a:pPr>
            <a:r>
              <a:rPr sz="2250" b="1">
                <a:solidFill>
                  <a:srgbClr val="087F79"/>
                </a:solidFill>
              </a:rPr>
              <a:t>摘要</a:t>
            </a:r>
            <a:endParaRPr sz="2250" b="1">
              <a:solidFill>
                <a:srgbClr val="087F79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657600" y="18669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读一句中文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28700" y="2533650"/>
            <a:ext cx="323850" cy="3238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60032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562225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现金动作，比如收到、支付、缴纳、偿还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28700" y="3162300"/>
            <a:ext cx="323850" cy="3238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322897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66850" y="3190875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业务对象，比如货款、工资、税费、设备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28700" y="3790950"/>
            <a:ext cx="323850" cy="3238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385762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66850" y="3819525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用途和关系，比如生产、项目、客户、供应商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028700" y="4419600"/>
            <a:ext cx="323850" cy="32385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448627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66850" y="4448175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修饰和冲突，比如否定、不确定、多个动作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501015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87F79"/>
                </a:solidFill>
              </a:defRPr>
            </a:pPr>
            <a:r>
              <a:rPr sz="1275" b="1">
                <a:solidFill>
                  <a:srgbClr val="087F79"/>
                </a:solidFill>
              </a:rPr>
              <a:t>AI 只解释原文没说清的部分，</a:t>
            </a:r>
            <a:endParaRPr sz="1275" b="1">
              <a:solidFill>
                <a:srgbClr val="087F79"/>
              </a:solidFill>
            </a:endParaRPr>
          </a:p>
          <a:p>
            <a:pPr algn="l">
              <a:defRPr sz="1275" b="1">
                <a:solidFill>
                  <a:srgbClr val="087F79"/>
                </a:solidFill>
              </a:defRPr>
            </a:pPr>
            <a:r>
              <a:rPr sz="1275" b="1">
                <a:solidFill>
                  <a:srgbClr val="087F79"/>
                </a:solidFill>
              </a:rPr>
              <a:t>看不到金额、原项目或系统候选。</a:t>
            </a:r>
            <a:endParaRPr sz="1275" b="1">
              <a:solidFill>
                <a:srgbClr val="087F7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0" y="18097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B5D75"/>
                </a:solidFill>
              </a:defRPr>
            </a:pPr>
            <a:r>
              <a:rPr sz="2250" b="1">
                <a:solidFill>
                  <a:srgbClr val="0B5D75"/>
                </a:solidFill>
              </a:rPr>
              <a:t>完整科目路径</a:t>
            </a:r>
            <a:endParaRPr sz="2250" b="1">
              <a:solidFill>
                <a:srgbClr val="0B5D7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44050" y="18669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看完整科目路径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86600" y="25717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82B3C"/>
                </a:solidFill>
              </a:defRPr>
            </a:pPr>
            <a:r>
              <a:rPr sz="1575" b="1">
                <a:solidFill>
                  <a:srgbClr val="082B3C"/>
                </a:solidFill>
              </a:rPr>
              <a:t>标准一级科目</a:t>
            </a:r>
            <a:endParaRPr sz="1575" b="1">
              <a:solidFill>
                <a:srgbClr val="082B3C"/>
              </a:solidFill>
            </a:endParaRPr>
          </a:p>
        </p:txBody>
      </p:sp>
      <p:sp>
        <p:nvSpPr>
          <p:cNvPr id="25" name="下箭头 24"/>
          <p:cNvSpPr>
            <a:spLocks noGrp="1"/>
          </p:cNvSpPr>
          <p:nvPr/>
        </p:nvSpPr>
        <p:spPr>
          <a:xfrm>
            <a:off x="7781925" y="3009900"/>
            <a:ext cx="361950" cy="457200"/>
          </a:xfrm>
          <a:prstGeom prst="downArrow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86600" y="3524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82B3C"/>
                </a:solidFill>
              </a:defRPr>
            </a:pPr>
            <a:r>
              <a:rPr sz="1575" b="1">
                <a:solidFill>
                  <a:srgbClr val="082B3C"/>
                </a:solidFill>
              </a:rPr>
              <a:t>全部中间层级</a:t>
            </a:r>
            <a:endParaRPr sz="1575" b="1">
              <a:solidFill>
                <a:srgbClr val="082B3C"/>
              </a:solidFill>
            </a:endParaRPr>
          </a:p>
        </p:txBody>
      </p:sp>
      <p:sp>
        <p:nvSpPr>
          <p:cNvPr id="27" name="下箭头 26"/>
          <p:cNvSpPr>
            <a:spLocks noGrp="1"/>
          </p:cNvSpPr>
          <p:nvPr/>
        </p:nvSpPr>
        <p:spPr>
          <a:xfrm>
            <a:off x="7781925" y="3962400"/>
            <a:ext cx="361950" cy="457200"/>
          </a:xfrm>
          <a:prstGeom prst="downArrow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991350" y="44958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82B3C"/>
                </a:solidFill>
              </a:defRPr>
            </a:pPr>
            <a:r>
              <a:rPr sz="1575" b="1">
                <a:solidFill>
                  <a:srgbClr val="082B3C"/>
                </a:solidFill>
              </a:rPr>
              <a:t>末级明细 + 限定词</a:t>
            </a:r>
            <a:endParaRPr sz="1575" b="1">
              <a:solidFill>
                <a:srgbClr val="082B3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20200" y="2724150"/>
            <a:ext cx="190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每个节点只能是四种结果之一</a:t>
            </a:r>
            <a:endParaRPr sz="1350" b="0">
              <a:solidFill>
                <a:srgbClr val="587089"/>
              </a:solidFill>
            </a:endParaRPr>
          </a:p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直接识别 / 继承父属性 / 中性限定 / 明确未识别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451485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5D75"/>
                </a:solidFill>
              </a:defRPr>
            </a:pPr>
            <a:r>
              <a:rPr sz="1275" b="1">
                <a:solidFill>
                  <a:srgbClr val="0B5D75"/>
                </a:solidFill>
              </a:rPr>
              <a:t>内部领用、结转、折旧这类不动现金的业务，不能算现金流。</a:t>
            </a:r>
            <a:endParaRPr sz="1275" b="1">
              <a:solidFill>
                <a:srgbClr val="0B5D7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43000" y="58483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两边互相看不到对方的结论；指向同一个项目且各自独立，分数才能相加。</a:t>
            </a:r>
            <a:endParaRPr sz="1650" b="1">
              <a:solidFill>
                <a:srgbClr val="082B3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四档评分，衡量的是“能否唯一判断”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07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3524250"/>
            <a:ext cx="2286000" cy="1562100"/>
          </a:xfrm>
          <a:prstGeom prst="rect">
            <a:avLst/>
          </a:prstGeom>
          <a:solidFill>
            <a:srgbClr val="EEF2F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36957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587089"/>
                </a:solidFill>
              </a:defRPr>
            </a:pPr>
            <a:r>
              <a:rPr sz="3000" b="1">
                <a:solidFill>
                  <a:srgbClr val="587089"/>
                </a:solidFill>
              </a:rPr>
              <a:t>0</a:t>
            </a:r>
            <a:endParaRPr sz="3000" b="1">
              <a:solidFill>
                <a:srgbClr val="58708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42100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无效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459105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没有可用证据</a:t>
            </a:r>
            <a:endParaRPr sz="1275" b="0">
              <a:solidFill>
                <a:srgbClr val="587089"/>
              </a:solidFill>
            </a:endParaRPr>
          </a:p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或内部矛盾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19450" y="3295650"/>
            <a:ext cx="2286000" cy="1790700"/>
          </a:xfrm>
          <a:prstGeom prst="rect">
            <a:avLst/>
          </a:prstGeom>
          <a:solidFill>
            <a:srgbClr val="FFF3D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34671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4A61D"/>
                </a:solidFill>
              </a:defRPr>
            </a:pPr>
            <a:r>
              <a:rPr sz="3000" b="1">
                <a:solidFill>
                  <a:srgbClr val="F4A61D"/>
                </a:solidFill>
              </a:rPr>
              <a:t>10</a:t>
            </a:r>
            <a:endParaRPr sz="3000" b="1">
              <a:solidFill>
                <a:srgbClr val="F4A61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39814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弱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43624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只有部分动作/对象</a:t>
            </a:r>
            <a:endParaRPr sz="1275" b="0">
              <a:solidFill>
                <a:srgbClr val="587089"/>
              </a:solidFill>
            </a:endParaRPr>
          </a:p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仍有多个合理候选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619750" y="2705100"/>
            <a:ext cx="2286000" cy="2381250"/>
          </a:xfrm>
          <a:prstGeom prst="rect">
            <a:avLst/>
          </a:prstGeom>
          <a:solidFill>
            <a:srgbClr val="EFFA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29300" y="28765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87F79"/>
                </a:solidFill>
              </a:defRPr>
            </a:pPr>
            <a:r>
              <a:rPr sz="3000" b="1">
                <a:solidFill>
                  <a:srgbClr val="087F79"/>
                </a:solidFill>
              </a:rPr>
              <a:t>25</a:t>
            </a:r>
            <a:endParaRPr sz="3000" b="1">
              <a:solidFill>
                <a:srgbClr val="087F7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29300" y="33909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中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829300" y="3771900"/>
            <a:ext cx="1866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已唯一指向候选</a:t>
            </a:r>
            <a:endParaRPr sz="1275" b="0">
              <a:solidFill>
                <a:srgbClr val="587089"/>
              </a:solidFill>
            </a:endParaRPr>
          </a:p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但缺决定性属性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0050" y="2076450"/>
            <a:ext cx="3238500" cy="3009900"/>
          </a:xfrm>
          <a:prstGeom prst="rect">
            <a:avLst/>
          </a:prstGeom>
          <a:solidFill>
            <a:srgbClr val="E8F6F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29600" y="2247900"/>
            <a:ext cx="2819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87F79"/>
                </a:solidFill>
              </a:defRPr>
            </a:pPr>
            <a:r>
              <a:rPr sz="3000" b="1">
                <a:solidFill>
                  <a:srgbClr val="087F79"/>
                </a:solidFill>
              </a:rPr>
              <a:t>45</a:t>
            </a:r>
            <a:endParaRPr sz="3000" b="1">
              <a:solidFill>
                <a:srgbClr val="087F7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29600" y="2762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2B3C"/>
                </a:solidFill>
              </a:defRPr>
            </a:pPr>
            <a:r>
              <a:rPr sz="1725" b="1">
                <a:solidFill>
                  <a:srgbClr val="082B3C"/>
                </a:solidFill>
              </a:rPr>
              <a:t>强</a:t>
            </a:r>
            <a:endParaRPr sz="1725" b="1">
              <a:solidFill>
                <a:srgbClr val="082B3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29600" y="3143250"/>
            <a:ext cx="2819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动作、对象、用途/项目完整</a:t>
            </a:r>
            <a:endParaRPr sz="1275" b="0">
              <a:solidFill>
                <a:srgbClr val="587089"/>
              </a:solidFill>
            </a:endParaRPr>
          </a:p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唯一排除其他候选且无冲突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5467350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一条证据同时指向多个项目，最高只能拿 10 分。</a:t>
            </a:r>
            <a:endParaRPr sz="1500" b="1">
              <a:solidFill>
                <a:srgbClr val="B33A3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15050" y="5467350"/>
            <a:ext cx="514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字段多少、关键词次数、AI 自称把握，都不能直接加分。</a:t>
            </a:r>
            <a:endParaRPr sz="1500" b="1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矩形 44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两个来源，只能合成十种总分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08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3429000"/>
            <a:ext cx="10096500" cy="762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047750" y="31623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0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0+0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152650" y="31623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526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10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0193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10+0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3257550" y="31623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575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20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242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10+10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4362450" y="31623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624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25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291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25+0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5467350" y="3162300"/>
            <a:ext cx="533400" cy="533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673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35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25+10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572250" y="3162300"/>
            <a:ext cx="533400" cy="53340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389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45+0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677150" y="3162300"/>
            <a:ext cx="533400" cy="53340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771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438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25+25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782050" y="3162300"/>
            <a:ext cx="533400" cy="53340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820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487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45+10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886950" y="3162300"/>
            <a:ext cx="533400" cy="5334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8869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7536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45+25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10991850" y="3162300"/>
            <a:ext cx="533400" cy="5334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991850" y="3295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90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858500" y="394335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87089"/>
                </a:solidFill>
              </a:defRPr>
            </a:pPr>
            <a:r>
              <a:rPr sz="1200" b="0">
                <a:solidFill>
                  <a:srgbClr val="587089"/>
                </a:solidFill>
              </a:rPr>
              <a:t>45+45</a:t>
            </a:r>
            <a:endParaRPr sz="1200" b="0">
              <a:solidFill>
                <a:srgbClr val="58708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581150" y="1809750"/>
            <a:ext cx="902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82B3C"/>
                </a:solidFill>
              </a:defRPr>
            </a:pPr>
            <a:r>
              <a:rPr sz="2100" b="1">
                <a:solidFill>
                  <a:srgbClr val="082B3C"/>
                </a:solidFill>
              </a:rPr>
              <a:t>只有两个来源独立、并且支持同一个候选项目，才允许相加。</a:t>
            </a:r>
            <a:endParaRPr sz="2100" b="1">
              <a:solidFill>
                <a:srgbClr val="082B3C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14450" y="47625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87F79"/>
                </a:solidFill>
              </a:defRPr>
            </a:pPr>
            <a:r>
              <a:rPr sz="1875" b="1">
                <a:solidFill>
                  <a:srgbClr val="087F79"/>
                </a:solidFill>
              </a:rPr>
              <a:t>重复不算分</a:t>
            </a:r>
            <a:endParaRPr sz="1875" b="1">
              <a:solidFill>
                <a:srgbClr val="087F79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238250" y="52197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摘要只是换句话复述科目路径时，</a:t>
            </a:r>
            <a:endParaRPr sz="1350" b="0">
              <a:solidFill>
                <a:srgbClr val="587089"/>
              </a:solidFill>
            </a:endParaRPr>
          </a:p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只按较高的一个来源算分。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762500" y="4762500"/>
            <a:ext cx="19050" cy="12192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972050" y="47625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B33A3A"/>
                </a:solidFill>
              </a:defRPr>
            </a:pPr>
            <a:r>
              <a:rPr sz="1875" b="1">
                <a:solidFill>
                  <a:srgbClr val="B33A3A"/>
                </a:solidFill>
              </a:rPr>
              <a:t>冲突不做算术</a:t>
            </a:r>
            <a:endParaRPr sz="1875" b="1">
              <a:solidFill>
                <a:srgbClr val="B33A3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857750" y="521970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摘要说 A、路径说 B 时总分留空，</a:t>
            </a:r>
            <a:endParaRPr sz="1350" b="0">
              <a:solidFill>
                <a:srgbClr val="587089"/>
              </a:solidFill>
            </a:endParaRPr>
          </a:p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转强制检查，不平均、不相减。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0" y="4762500"/>
            <a:ext cx="19050" cy="12192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763000" y="47625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B5D75"/>
                </a:solidFill>
              </a:defRPr>
            </a:pPr>
            <a:r>
              <a:rPr sz="1875" b="1">
                <a:solidFill>
                  <a:srgbClr val="0B5D75"/>
                </a:solidFill>
              </a:rPr>
              <a:t>未知不等于冲突</a:t>
            </a:r>
            <a:endParaRPr sz="1875" b="1">
              <a:solidFill>
                <a:srgbClr val="0B5D75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05850" y="52197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摘要 0 分如果只是没信息，</a:t>
            </a:r>
            <a:endParaRPr sz="1350" b="0">
              <a:solidFill>
                <a:srgbClr val="587089"/>
              </a:solidFill>
            </a:endParaRPr>
          </a:p>
          <a:p>
            <a:pPr algn="ctr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科目路径的 45 分仍然算数。</a:t>
            </a:r>
            <a:endParaRPr sz="1350" b="0">
              <a:solidFill>
                <a:srgbClr val="5870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先过硬性检查，再看三件事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09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16383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输入 / 映射 / 现金范围 / 金额守恒 / 来源与业务事实冲突</a:t>
            </a:r>
            <a:endParaRPr sz="1650" b="1">
              <a:solidFill>
                <a:srgbClr val="B33A3A"/>
              </a:solidFill>
            </a:endParaRPr>
          </a:p>
        </p:txBody>
      </p:sp>
      <p:sp>
        <p:nvSpPr>
          <p:cNvPr id="6" name="下箭头 5"/>
          <p:cNvSpPr>
            <a:spLocks noGrp="1"/>
          </p:cNvSpPr>
          <p:nvPr/>
        </p:nvSpPr>
        <p:spPr>
          <a:xfrm>
            <a:off x="5905500" y="2076450"/>
            <a:ext cx="381000" cy="514350"/>
          </a:xfrm>
          <a:prstGeom prst="downArrow">
            <a:avLst/>
          </a:prstGeom>
          <a:solidFill>
            <a:srgbClr val="B33A3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514850" y="2647950"/>
            <a:ext cx="3162300" cy="590550"/>
          </a:xfrm>
          <a:prstGeom prst="roundRect">
            <a:avLst>
              <a:gd name="adj" fmla="val 19355"/>
            </a:avLst>
          </a:prstGeom>
          <a:solidFill>
            <a:srgbClr val="082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05350" y="280035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原项目 × 证据分 × 金额档位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3714750"/>
            <a:ext cx="419100" cy="4191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7814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36957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原项目有效，候选一致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53000" y="3905250"/>
            <a:ext cx="857250" cy="38100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57900" y="3686175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低中金额以保持为主；M2 低分先复核，M3 人工决定。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14400" y="4533900"/>
            <a:ext cx="419100" cy="419100"/>
          </a:xfrm>
          <a:prstGeom prst="ellipse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60057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24000" y="45148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原项目有效，候选想改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53000" y="4724400"/>
            <a:ext cx="857250" cy="38100"/>
          </a:xfrm>
          <a:prstGeom prst="rect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57900" y="4505325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必须达到客户授权档；M0 可自动，M1 一次 AI，M2 加深复核，M3 人工。</a:t>
            </a:r>
            <a:endParaRPr sz="1350" b="0">
              <a:solidFill>
                <a:srgbClr val="587089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914400" y="5353050"/>
            <a:ext cx="419100" cy="419100"/>
          </a:xfrm>
          <a:prstGeom prst="ellipse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54197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24000" y="53340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原项目为空 / 无法标准化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5543550"/>
            <a:ext cx="857250" cy="38100"/>
          </a:xfrm>
          <a:prstGeom prst="rect">
            <a:avLst/>
          </a:prstGeom>
          <a:solidFill>
            <a:srgbClr val="0B5D7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57900" y="5324475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7089"/>
                </a:solidFill>
              </a:defRPr>
            </a:pPr>
            <a:r>
              <a:rPr sz="1350" b="0">
                <a:solidFill>
                  <a:srgbClr val="587089"/>
                </a:solidFill>
              </a:rPr>
              <a:t>没有原项目可沿用，优先补一个；M0–M2 按分数走自动、AI、A/B/C 或人工。</a:t>
            </a:r>
            <a:endParaRPr sz="1350" b="0">
              <a:solidFill>
                <a:srgbClr val="5870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AI 只重新解释原始事实，不额外加分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10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3257550" y="3048000"/>
            <a:ext cx="857250" cy="4000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6934200" y="3048000"/>
            <a:ext cx="857250" cy="400050"/>
          </a:xfrm>
          <a:prstGeom prst="rightArrow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FFAF9"/>
          </a:solidFill>
          <a:ln w="19050">
            <a:solidFill>
              <a:srgbClr val="00A7A0"/>
            </a:solidFill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25717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87F79"/>
                </a:solidFill>
              </a:defRPr>
            </a:pPr>
            <a:r>
              <a:rPr sz="2175" b="1">
                <a:solidFill>
                  <a:srgbClr val="087F79"/>
                </a:solidFill>
              </a:rPr>
              <a:t>一次 AI</a:t>
            </a:r>
            <a:endParaRPr sz="2175" b="1">
              <a:solidFill>
                <a:srgbClr val="087F7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3181350"/>
            <a:ext cx="1847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重新解释原始摘要</a:t>
            </a:r>
            <a:endParaRPr sz="1500" b="0">
              <a:solidFill>
                <a:srgbClr val="587089"/>
              </a:solidFill>
            </a:endParaRPr>
          </a:p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与完整路径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114800" y="1924050"/>
            <a:ext cx="2819400" cy="2628900"/>
          </a:xfrm>
          <a:prstGeom prst="roundRect">
            <a:avLst>
              <a:gd name="adj" fmla="val 5797"/>
            </a:avLst>
          </a:prstGeom>
          <a:solidFill>
            <a:srgbClr val="F7FAFB"/>
          </a:solidFill>
          <a:ln w="19050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23431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082B3C"/>
                </a:solidFill>
              </a:defRPr>
            </a:pPr>
            <a:r>
              <a:rPr sz="2175" b="1">
                <a:solidFill>
                  <a:srgbClr val="082B3C"/>
                </a:solidFill>
              </a:rPr>
              <a:t>A / B 互盲</a:t>
            </a:r>
            <a:endParaRPr sz="2175" b="1">
              <a:solidFill>
                <a:srgbClr val="082B3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300990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两名独立复核者</a:t>
            </a:r>
            <a:endParaRPr sz="1500" b="0">
              <a:solidFill>
                <a:srgbClr val="587089"/>
              </a:solidFill>
            </a:endParaRPr>
          </a:p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互相看不到结论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3943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5D75"/>
                </a:solidFill>
              </a:defRPr>
            </a:pPr>
            <a:r>
              <a:rPr sz="1350" b="1">
                <a:solidFill>
                  <a:srgbClr val="0B5D75"/>
                </a:solidFill>
              </a:rPr>
              <a:t>同项目且各自达标</a:t>
            </a:r>
            <a:endParaRPr sz="1350" b="1">
              <a:solidFill>
                <a:srgbClr val="0B5D75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7914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19050">
            <a:solidFill>
              <a:srgbClr val="F4A61D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58150" y="25717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F4A61D"/>
                </a:solidFill>
              </a:defRPr>
            </a:pPr>
            <a:r>
              <a:rPr sz="2175" b="1">
                <a:solidFill>
                  <a:srgbClr val="F4A61D"/>
                </a:solidFill>
              </a:rPr>
              <a:t>必要时 C 轮</a:t>
            </a:r>
            <a:endParaRPr sz="2175" b="1">
              <a:solidFill>
                <a:srgbClr val="F4A61D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318135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仅在行动格允许、</a:t>
            </a:r>
            <a:endParaRPr sz="1500" b="0">
              <a:solidFill>
                <a:srgbClr val="587089"/>
              </a:solidFill>
            </a:endParaRPr>
          </a:p>
          <a:p>
            <a:pPr algn="ctr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且 A/B 不一致时启动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5086350"/>
            <a:ext cx="1019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82B3C"/>
                </a:solidFill>
              </a:defRPr>
            </a:pPr>
            <a:r>
              <a:rPr sz="1650" b="1">
                <a:solidFill>
                  <a:srgbClr val="082B3C"/>
                </a:solidFill>
              </a:rPr>
              <a:t>AI 意见不是第三项证据，不额外加分；每一轮后都由固定程序按四档和十种总分重算。</a:t>
            </a:r>
            <a:endParaRPr sz="1650" b="1">
              <a:solidFill>
                <a:srgbClr val="082B3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14450" y="59436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强制检查永远优先，高分也不能绕过字段缺失、金额不守恒或来源冲突。</a:t>
            </a:r>
            <a:endParaRPr sz="1350" b="1">
              <a:solidFill>
                <a:srgbClr val="B33A3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授权分是改原项目的最低门槛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11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160020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2B3C"/>
                </a:solidFill>
              </a:defRPr>
            </a:pPr>
            <a:r>
              <a:rPr sz="1800" b="1">
                <a:solidFill>
                  <a:srgbClr val="082B3C"/>
                </a:solidFill>
              </a:rPr>
              <a:t>每次新运行前，客户只需要选择一个最低分。</a:t>
            </a:r>
            <a:endParaRPr sz="1800" b="1">
              <a:solidFill>
                <a:srgbClr val="082B3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266950"/>
            <a:ext cx="666750" cy="400050"/>
          </a:xfrm>
          <a:prstGeom prst="rect">
            <a:avLst/>
          </a:prstGeom>
          <a:solidFill>
            <a:srgbClr val="F7FAFB"/>
          </a:solidFill>
          <a:ln w="9525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3336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45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971800"/>
            <a:ext cx="1371600" cy="400050"/>
          </a:xfrm>
          <a:prstGeom prst="rect">
            <a:avLst/>
          </a:prstGeom>
          <a:solidFill>
            <a:srgbClr val="F7FAFB"/>
          </a:solidFill>
          <a:ln w="9525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384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50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3676650"/>
            <a:ext cx="2076450" cy="400050"/>
          </a:xfrm>
          <a:prstGeom prst="rect">
            <a:avLst/>
          </a:prstGeom>
          <a:solidFill>
            <a:srgbClr val="F7FAFB"/>
          </a:solidFill>
          <a:ln w="9525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7433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55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381500"/>
            <a:ext cx="2781300" cy="400050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4481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70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724400" y="44196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DFF7F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00600" y="4467225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87F79"/>
                </a:solidFill>
              </a:defRPr>
            </a:pPr>
            <a:r>
              <a:rPr sz="1125" b="1">
                <a:solidFill>
                  <a:srgbClr val="087F79"/>
                </a:solidFill>
              </a:rPr>
              <a:t>默认推荐</a:t>
            </a:r>
            <a:endParaRPr sz="1125" b="1">
              <a:solidFill>
                <a:srgbClr val="087F7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5086350"/>
            <a:ext cx="3486150" cy="400050"/>
          </a:xfrm>
          <a:prstGeom prst="rect">
            <a:avLst/>
          </a:prstGeom>
          <a:solidFill>
            <a:srgbClr val="F7FAFB"/>
          </a:solidFill>
          <a:ln w="9525">
            <a:solidFill>
              <a:srgbClr val="D7E4E8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3950" y="51530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90</a:t>
            </a:r>
            <a:endParaRPr sz="1500" b="1">
              <a:solidFill>
                <a:srgbClr val="17324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5905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45 最宽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19600" y="5905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587089"/>
                </a:solidFill>
              </a:defRPr>
            </a:pPr>
            <a:r>
              <a:rPr sz="1275" b="0">
                <a:solidFill>
                  <a:srgbClr val="587089"/>
                </a:solidFill>
              </a:rPr>
              <a:t>90 最严</a:t>
            </a:r>
            <a:endParaRPr sz="1275" b="0">
              <a:solidFill>
                <a:srgbClr val="58708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1619250"/>
            <a:ext cx="19050" cy="43434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77050" y="18288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82B3C"/>
                </a:solidFill>
              </a:defRPr>
            </a:pPr>
            <a:r>
              <a:rPr sz="2100" b="1">
                <a:solidFill>
                  <a:srgbClr val="082B3C"/>
                </a:solidFill>
              </a:rPr>
              <a:t>授权怎样生效</a:t>
            </a:r>
            <a:endParaRPr sz="2100" b="1">
              <a:solidFill>
                <a:srgbClr val="082B3C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896100" y="2552700"/>
            <a:ext cx="342900" cy="342900"/>
          </a:xfrm>
          <a:prstGeom prst="ellipse">
            <a:avLst/>
          </a:prstGeom>
          <a:solidFill>
            <a:srgbClr val="F4A61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96100" y="26193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10450" y="253365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选的是最低分，达到或超过都算数。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96100" y="3333750"/>
            <a:ext cx="342900" cy="3429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96100" y="34004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10450" y="33147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只管一件事，就是把有效的原项目改成另一个项目。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896100" y="4114800"/>
            <a:ext cx="342900" cy="3429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96100" y="418147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10450" y="409575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空白补列、内部划转、明确排除、M3 责任和强制检查不由它改变。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6896100" y="4895850"/>
            <a:ext cx="342900" cy="342900"/>
          </a:xfrm>
          <a:prstGeom prst="ellipse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96100" y="49625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10450" y="48768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来源冲突时没有可用总分，不能丢掉不利证据后硬凑授权。</a:t>
            </a:r>
            <a:endParaRPr sz="1350" b="0">
              <a:solidFill>
                <a:srgbClr val="17324D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00850" y="563880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87F79"/>
                </a:solidFill>
              </a:defRPr>
            </a:pPr>
            <a:r>
              <a:rPr sz="1425" b="1">
                <a:solidFill>
                  <a:srgbClr val="087F79"/>
                </a:solidFill>
              </a:rPr>
              <a:t>默认 70 = 强 + 中</a:t>
            </a:r>
            <a:endParaRPr sz="1425" b="1">
              <a:solidFill>
                <a:srgbClr val="087F79"/>
              </a:solidFill>
            </a:endParaRPr>
          </a:p>
          <a:p>
            <a:pPr algn="l">
              <a:defRPr sz="1425" b="1">
                <a:solidFill>
                  <a:srgbClr val="087F79"/>
                </a:solidFill>
              </a:defRPr>
            </a:pPr>
            <a:r>
              <a:rPr sz="1425" b="1">
                <a:solidFill>
                  <a:srgbClr val="087F79"/>
                </a:solidFill>
              </a:rPr>
              <a:t>两条独立证据指向同一项目时才自动改，更稳妥。</a:t>
            </a:r>
            <a:endParaRPr sz="1425" b="1">
              <a:solidFill>
                <a:srgbClr val="087F7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只有机器定不了的，才交到人工手里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12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6573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82B3C"/>
                </a:solidFill>
              </a:defRPr>
            </a:pPr>
            <a:r>
              <a:rPr sz="2175" b="1">
                <a:solidFill>
                  <a:srgbClr val="082B3C"/>
                </a:solidFill>
              </a:rPr>
              <a:t>重要待复核事项</a:t>
            </a:r>
            <a:endParaRPr sz="2175" b="1">
              <a:solidFill>
                <a:srgbClr val="082B3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19075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7089"/>
                </a:solidFill>
              </a:defRPr>
            </a:pPr>
            <a:r>
              <a:rPr sz="1425" b="0">
                <a:solidFill>
                  <a:srgbClr val="587089"/>
                </a:solidFill>
              </a:rPr>
              <a:t>每笔业务一行，列出日期、凭证、摘要、完整路径、金额、原项目、系统候选、理由和备选。</a:t>
            </a:r>
            <a:endParaRPr sz="1425" b="0">
              <a:solidFill>
                <a:srgbClr val="58708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35242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82B3C"/>
                </a:solidFill>
              </a:defRPr>
            </a:pPr>
            <a:r>
              <a:rPr sz="2175" b="1">
                <a:solidFill>
                  <a:srgbClr val="082B3C"/>
                </a:solidFill>
              </a:rPr>
              <a:t>疑似重复事项</a:t>
            </a:r>
            <a:endParaRPr sz="2175" b="1">
              <a:solidFill>
                <a:srgbClr val="082B3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40576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87089"/>
                </a:solidFill>
              </a:defRPr>
            </a:pPr>
            <a:r>
              <a:rPr sz="1425" b="0">
                <a:solidFill>
                  <a:srgbClr val="587089"/>
                </a:solidFill>
              </a:rPr>
              <a:t>系统默认保留原始记录；只有人工确认确实重复，才通过公式形成剔除调整。</a:t>
            </a:r>
            <a:endParaRPr sz="1425" b="0">
              <a:solidFill>
                <a:srgbClr val="58708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00750" y="1657350"/>
            <a:ext cx="19050" cy="361950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0" y="1695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87F79"/>
                </a:solidFill>
              </a:defRPr>
            </a:pPr>
            <a:r>
              <a:rPr sz="2100" b="1">
                <a:solidFill>
                  <a:srgbClr val="087F79"/>
                </a:solidFill>
              </a:rPr>
              <a:t>真正必填的只有一个字段</a:t>
            </a:r>
            <a:endParaRPr sz="2100" b="1">
              <a:solidFill>
                <a:srgbClr val="087F79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667500" y="2419350"/>
            <a:ext cx="4267200" cy="876300"/>
          </a:xfrm>
          <a:prstGeom prst="roundRect">
            <a:avLst>
              <a:gd name="adj" fmla="val 13043"/>
            </a:avLst>
          </a:prstGeom>
          <a:solidFill>
            <a:srgbClr val="EFFAF9"/>
          </a:solidFill>
          <a:ln w="19050">
            <a:solidFill>
              <a:srgbClr val="00A7A0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34200" y="2647950"/>
            <a:ext cx="3733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2B3C"/>
                </a:solidFill>
              </a:defRPr>
            </a:pPr>
            <a:r>
              <a:rPr sz="1800" b="1">
                <a:solidFill>
                  <a:srgbClr val="082B3C"/>
                </a:solidFill>
              </a:rPr>
              <a:t>人工确认项目  ▼</a:t>
            </a:r>
            <a:endParaRPr sz="1800" b="1">
              <a:solidFill>
                <a:srgbClr val="082B3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43700" y="3657600"/>
            <a:ext cx="4095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第一项：采用系统首选项目</a:t>
            </a:r>
            <a:endParaRPr sz="1500" b="0">
              <a:solidFill>
                <a:srgbClr val="587089"/>
              </a:solidFill>
            </a:endParaRPr>
          </a:p>
          <a:p>
            <a:pPr algn="l">
              <a:defRPr sz="1500" b="0">
                <a:solidFill>
                  <a:srgbClr val="587089"/>
                </a:solidFill>
              </a:defRPr>
            </a:pPr>
            <a:r>
              <a:rPr sz="1500" b="0">
                <a:solidFill>
                  <a:srgbClr val="587089"/>
                </a:solidFill>
              </a:rPr>
              <a:t>其后：具体标准项目 / 明确排除</a:t>
            </a:r>
            <a:endParaRPr sz="1500" b="0">
              <a:solidFill>
                <a:srgbClr val="58708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4800600"/>
            <a:ext cx="4191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选择后，正表、核对报告和全量留痕通过 Excel 公式即时更新，无需重新运行程序。</a:t>
            </a:r>
            <a:endParaRPr sz="1425" b="1">
              <a:solidFill>
                <a:srgbClr val="17324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57912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M3 一般由人工决定；唯一的例外是原项目为空、证据 90 分且唯一，经一次 AI 复核仍是 90 分，可以自动补列。</a:t>
            </a:r>
            <a:endParaRPr sz="1425" b="1">
              <a:solidFill>
                <a:srgbClr val="B33A3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矩形 45"/>
          <p:cNvSpPr>
            <a:spLocks noGrp="1"/>
          </p:cNvSpPr>
          <p:nvPr/>
        </p:nvSpPr>
        <p:spPr>
          <a:xfrm>
            <a:off x="685800" y="381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79"/>
                </a:solidFill>
              </a:defRPr>
            </a:pPr>
            <a:r>
              <a:rPr sz="1050" b="1">
                <a:solidFill>
                  <a:srgbClr val="087F79"/>
                </a:solidFill>
              </a:rPr>
              <a:t>CAS-CASHFLOW-DIRECT</a:t>
            </a:r>
            <a:endParaRPr sz="1050" b="1">
              <a:solidFill>
                <a:srgbClr val="087F79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2B3C"/>
                </a:solidFill>
              </a:defRPr>
            </a:pPr>
            <a:r>
              <a:rPr sz="2850" b="1">
                <a:solidFill>
                  <a:srgbClr val="082B3C"/>
                </a:solidFill>
              </a:rPr>
              <a:t>十四张表，把结果、证据和人工入口放在一起</a:t>
            </a:r>
            <a:endParaRPr sz="2850" b="1">
              <a:solidFill>
                <a:srgbClr val="082B3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95400"/>
            <a:ext cx="10820400" cy="190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68050" y="3810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87089"/>
                </a:solidFill>
              </a:defRPr>
            </a:pPr>
            <a:r>
              <a:rPr sz="1050" b="1">
                <a:solidFill>
                  <a:srgbClr val="587089"/>
                </a:solidFill>
              </a:rPr>
              <a:t>13</a:t>
            </a:r>
            <a:endParaRPr sz="1050" b="1">
              <a:solidFill>
                <a:srgbClr val="58708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01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17716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使用说明与状态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2288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5527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02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5146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现金流量表正表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29718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956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03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57300" y="32575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正表核对报告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37147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0386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04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57300" y="4000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重要待复核事项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44577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29100" y="1695450"/>
            <a:ext cx="19050" cy="31051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95800" y="18097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05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72050" y="17716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低金额系统兜底明细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72050" y="22288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95800" y="25527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06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72050" y="25146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疑似重复事项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72050" y="29718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95800" y="32956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07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72050" y="32575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AI复核记录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972050" y="37147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95800" y="40386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08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972050" y="4000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原表与系统决定差异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972050" y="44577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43850" y="1695450"/>
            <a:ext cx="19050" cy="3105150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10550" y="18097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09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86800" y="17716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现金范围与勾稽核对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86800" y="22288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10550" y="25527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10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86800" y="25146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全量分类留痕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86800" y="29718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210550" y="32956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7F79"/>
                </a:solidFill>
              </a:defRPr>
            </a:pPr>
            <a:r>
              <a:rPr sz="1350" b="1">
                <a:solidFill>
                  <a:srgbClr val="087F79"/>
                </a:solidFill>
              </a:rPr>
              <a:t>11</a:t>
            </a:r>
            <a:endParaRPr sz="1350" b="1">
              <a:solidFill>
                <a:srgbClr val="087F79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686800" y="32575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科目语义词典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686800" y="371475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210550" y="40386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12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686800" y="400050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同类检查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86800" y="4457700"/>
            <a:ext cx="2724150" cy="9525"/>
          </a:xfrm>
          <a:prstGeom prst="rect">
            <a:avLst/>
          </a:prstGeom>
          <a:solidFill>
            <a:srgbClr val="D7E4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1050" y="5200650"/>
            <a:ext cx="10629900" cy="742950"/>
          </a:xfrm>
          <a:prstGeom prst="rect">
            <a:avLst/>
          </a:prstGeom>
          <a:solidFill>
            <a:srgbClr val="082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66800" y="5391150"/>
            <a:ext cx="1005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客户金额  +  系统自动调整  =  自动结果  +  人工调整  =  最终金额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219200" y="6172200"/>
            <a:ext cx="975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87F79"/>
                </a:solidFill>
              </a:defRPr>
            </a:pPr>
            <a:r>
              <a:rPr sz="1275" b="1">
                <a:solidFill>
                  <a:srgbClr val="087F79"/>
                </a:solidFill>
              </a:rPr>
              <a:t>能用的标准是，该人工定的都定完了，Excel 重算保存过，现金勾稽差异为 0，状态显示完成。</a:t>
            </a:r>
            <a:endParaRPr sz="1275" b="1">
              <a:solidFill>
                <a:srgbClr val="087F79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47815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13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257300" y="47434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分类汇总视图</a:t>
            </a:r>
            <a:endParaRPr sz="1500" b="1">
              <a:solidFill>
                <a:srgbClr val="082B3C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95800" y="47815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4A61D"/>
                </a:solidFill>
              </a:defRPr>
            </a:pPr>
            <a:r>
              <a:rPr sz="1350" b="1">
                <a:solidFill>
                  <a:srgbClr val="F4A61D"/>
                </a:solidFill>
              </a:rPr>
              <a:t>14</a:t>
            </a:r>
            <a:endParaRPr sz="1350" b="1">
              <a:solidFill>
                <a:srgbClr val="F4A61D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972050" y="47434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2B3C"/>
                </a:solidFill>
              </a:defRPr>
            </a:pPr>
            <a:r>
              <a:rPr sz="1500" b="1">
                <a:solidFill>
                  <a:srgbClr val="082B3C"/>
                </a:solidFill>
              </a:rPr>
              <a:t>输入识别与字段映射</a:t>
            </a:r>
            <a:endParaRPr sz="1500" b="1">
              <a:solidFill>
                <a:srgbClr val="082B3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723900" y="666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5DAD4"/>
                </a:solidFill>
              </a:defRPr>
            </a:pPr>
            <a:r>
              <a:rPr sz="1350" b="1">
                <a:solidFill>
                  <a:srgbClr val="75DAD4"/>
                </a:solidFill>
              </a:rPr>
              <a:t>最后记住这一条</a:t>
            </a:r>
            <a:endParaRPr sz="1350" b="1">
              <a:solidFill>
                <a:srgbClr val="75DAD4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42875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先定现金和科目</a:t>
            </a:r>
            <a:endParaRPr sz="3225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409700" y="230505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C9F0ED"/>
                </a:solidFill>
              </a:defRPr>
            </a:pPr>
            <a:r>
              <a:rPr sz="3225" b="1">
                <a:solidFill>
                  <a:srgbClr val="C9F0ED"/>
                </a:solidFill>
              </a:rPr>
              <a:t>摘要和科目路径各自取证</a:t>
            </a:r>
            <a:endParaRPr sz="3225" b="1">
              <a:solidFill>
                <a:srgbClr val="C9F0E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095500" y="3181350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四档分合成十种总分</a:t>
            </a:r>
            <a:endParaRPr sz="3225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781300" y="4057650"/>
            <a:ext cx="752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C9F0ED"/>
                </a:solidFill>
              </a:defRPr>
            </a:pPr>
            <a:r>
              <a:rPr sz="3225" b="1">
                <a:solidFill>
                  <a:srgbClr val="C9F0ED"/>
                </a:solidFill>
              </a:rPr>
              <a:t>再看金额、原项目和客户授权</a:t>
            </a:r>
            <a:endParaRPr sz="3225" b="1">
              <a:solidFill>
                <a:srgbClr val="C9F0ED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467100" y="493395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最后才决定动作</a:t>
            </a:r>
            <a:endParaRPr sz="32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6057900"/>
            <a:ext cx="10744200" cy="28575"/>
          </a:xfrm>
          <a:prstGeom prst="rect">
            <a:avLst/>
          </a:prstGeom>
          <a:solidFill>
            <a:srgbClr val="00A7A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6286500"/>
            <a:ext cx="10744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BFD8DE"/>
                </a:solidFill>
              </a:defRPr>
            </a:pPr>
            <a:r>
              <a:rPr sz="1350" b="0">
                <a:solidFill>
                  <a:srgbClr val="BFD8DE"/>
                </a:solidFill>
              </a:rPr>
              <a:t>每一步都留痕迹，能追溯、能复核，机器定不了的随时交到人工手里。</a:t>
            </a:r>
            <a:endParaRPr sz="1350" b="0">
              <a:solidFill>
                <a:srgbClr val="BFD8D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2770</Words>
  <Application>WPS 演示</Application>
  <PresentationFormat>Converted Presentation</PresentationFormat>
  <Paragraphs>499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27651</cp:lastModifiedBy>
  <cp:revision>1</cp:revision>
  <dcterms:created xsi:type="dcterms:W3CDTF">2026-08-25T04:46:44Z</dcterms:created>
  <dcterms:modified xsi:type="dcterms:W3CDTF">2026-08-25T04:46:44Z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5EEC08E2ACF34016863C4B78C500FF68_12</vt:lpwstr>
  </property>
</Properties>
</file>